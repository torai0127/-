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0" y="1371600"/>
            <a:ext cx="2743200" cy="457200"/>
          </a:xfrm>
          <a:prstGeom prst="round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初月500円キャンペーン中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フラットサポート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8C8C8"/>
                </a:solidFill>
              </a:defRPr>
            </a:pPr>
            <a:r>
              <a:t>月額制の航空券手配サービス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F6AD55"/>
                </a:solidFill>
              </a:rPr>
              <a:t>34</a:t>
            </a:r>
            <a:r>
              <a:rPr sz="1800">
                <a:solidFill>
                  <a:srgbClr val="F6AD55"/>
                </a:solidFill>
              </a:rPr>
              <a:t>万円</a:t>
            </a:r>
          </a:p>
          <a:p>
            <a:pPr algn="ctr">
              <a:defRPr sz="1100">
                <a:solidFill>
                  <a:srgbClr val="B4B4B4"/>
                </a:solidFill>
              </a:defRPr>
            </a:pPr>
            <a:r>
              <a:t>最大節約額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411480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F6AD55"/>
                </a:solidFill>
              </a:rPr>
              <a:t>17</a:t>
            </a:r>
            <a:r>
              <a:rPr sz="1800">
                <a:solidFill>
                  <a:srgbClr val="F6AD55"/>
                </a:solidFill>
              </a:rPr>
              <a:t>カ国</a:t>
            </a:r>
          </a:p>
          <a:p>
            <a:pPr algn="ctr">
              <a:defRPr sz="1100">
                <a:solidFill>
                  <a:srgbClr val="B4B4B4"/>
                </a:solidFill>
              </a:defRPr>
            </a:pPr>
            <a:r>
              <a:t>代表の渡航経験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411480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F6AD55"/>
                </a:solidFill>
              </a:rPr>
              <a:t>500</a:t>
            </a:r>
            <a:r>
              <a:rPr sz="1800">
                <a:solidFill>
                  <a:srgbClr val="F6AD55"/>
                </a:solidFill>
              </a:rPr>
              <a:t>円</a:t>
            </a:r>
          </a:p>
          <a:p>
            <a:pPr algn="ctr">
              <a:defRPr sz="1100">
                <a:solidFill>
                  <a:srgbClr val="B4B4B4"/>
                </a:solidFill>
              </a:defRPr>
            </a:pPr>
            <a:r>
              <a:t>初月お試し価格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69696"/>
                </a:solidFill>
              </a:defRPr>
            </a:pPr>
            <a:r>
              <a:t>株式会社UNISIA（ユニシア）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D8936"/>
                </a:solidFill>
              </a:defRPr>
            </a:pPr>
            <a:r>
              <a:t>Section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65D"/>
                </a:solidFill>
              </a:defRPr>
            </a:pPr>
            <a:r>
              <a:t>こんなお悩み、ありませんか？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8229600" cy="38100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3840480" cy="73152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1A202C"/>
                </a:solidFill>
              </a:defRPr>
            </a:pPr>
            <a:r>
              <a:t>😰  航空券、高すぎない？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463040"/>
            <a:ext cx="3840480" cy="73152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1A202C"/>
                </a:solidFill>
              </a:defRPr>
            </a:pPr>
            <a:r>
              <a:t>😩  自分で調べるのが面倒…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77440"/>
            <a:ext cx="3840480" cy="73152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1A202C"/>
                </a:solidFill>
              </a:defRPr>
            </a:pPr>
            <a:r>
              <a:t>😱  家族4人分、いくらになるか怖い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2377440"/>
            <a:ext cx="3840480" cy="73152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1A202C"/>
                </a:solidFill>
              </a:defRPr>
            </a:pPr>
            <a:r>
              <a:t>🤔  エージェントに頼むと高いって聞くけど…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291840"/>
            <a:ext cx="3840480" cy="73152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1A202C"/>
                </a:solidFill>
              </a:defRPr>
            </a:pPr>
            <a:r>
              <a:t>😕  本当に最安値か分からない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3291840"/>
            <a:ext cx="3840480" cy="73152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1A202C"/>
                </a:solidFill>
              </a:defRPr>
            </a:pPr>
            <a:r>
              <a:t>😣  相談できる人がいない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4754880"/>
            <a:ext cx="6400800" cy="731520"/>
          </a:xfrm>
          <a:prstGeom prst="roundRect">
            <a:avLst/>
          </a:prstGeom>
          <a:solidFill>
            <a:srgbClr val="FFF3E0"/>
          </a:solidFill>
          <a:ln>
            <a:solidFill>
              <a:srgbClr val="ED8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A202C"/>
                </a:solidFill>
              </a:defRPr>
            </a:pPr>
            <a:r>
              <a:t>これらの悩み、すべて解決します。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18096"/>
                </a:solidFill>
              </a:rPr>
              <a:t>株式会社UNISIA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18096"/>
                </a:solidFill>
              </a:defRPr>
            </a:pPr>
            <a: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D8936"/>
                </a:solidFill>
              </a:defRPr>
            </a:pPr>
            <a:r>
              <a:t>Section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65D"/>
                </a:solidFill>
              </a:defRPr>
            </a:pPr>
            <a:r>
              <a:t>なぜ、航空券は高いのか？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8229600" cy="38100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8229600" cy="164592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E53E3E"/>
                </a:solidFill>
              </a:defRPr>
            </a:pPr>
            <a:r>
              <a:t>答えはシンプル。「探し方を知らない」から。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7863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4A5568"/>
                </a:solidFill>
              </a:defRPr>
            </a:pPr>
            <a:r>
              <a:t>多くの人は、大手比較サイトや留学エージェントの言い値で航空券を買います。</a:t>
            </a:r>
            <a:br/>
            <a:r>
              <a:t>でも実は、同じ目的地でも ルート・時期・航空会社の組み合わせ で価格は数万円〜数十万円変わります。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291840"/>
            <a:ext cx="8229600" cy="1371600"/>
          </a:xfrm>
          <a:prstGeom prst="round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42900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365D"/>
                </a:solidFill>
              </a:defRPr>
            </a:pPr>
            <a:r>
              <a:t>知っていましたか？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40480"/>
            <a:ext cx="7863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A5568"/>
                </a:solidFill>
              </a:defRPr>
            </a:pPr>
            <a:r>
              <a:t>• 留学エージェントは「最安値」ではなく「利益率の高い航空券」を提案している</a:t>
            </a:r>
          </a:p>
          <a:p>
            <a:pPr>
              <a:defRPr sz="1200">
                <a:solidFill>
                  <a:srgbClr val="4A5568"/>
                </a:solidFill>
              </a:defRPr>
            </a:pPr>
            <a:r>
              <a:t>• 同じイギリス往復でも、取り方次第で 22万円の差 が出ることがある</a:t>
            </a:r>
          </a:p>
          <a:p>
            <a:pPr>
              <a:defRPr sz="1200">
                <a:solidFill>
                  <a:srgbClr val="4A5568"/>
                </a:solidFill>
              </a:defRPr>
            </a:pPr>
            <a:r>
              <a:t>• 比較サイトには載っていない「裏ルート」が存在する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846320"/>
            <a:ext cx="8229600" cy="1188720"/>
          </a:xfrm>
          <a:prstGeom prst="round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02920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だから、私たちが代わりに探します。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44068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DCDCFF"/>
                </a:solidFill>
              </a:defRPr>
            </a:pPr>
            <a:r>
              <a:t>17カ国渡航の経験を持つ代表が、あなたの航空券を「最安値」で見つけます。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18096"/>
                </a:solidFill>
              </a:rPr>
              <a:t>株式会社UNISIA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18096"/>
                </a:solidFill>
              </a:defRPr>
            </a:pPr>
            <a: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D8936"/>
                </a:solidFill>
              </a:defRPr>
            </a:pPr>
            <a:r>
              <a:t>Section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65D"/>
                </a:solidFill>
              </a:defRPr>
            </a:pPr>
            <a:r>
              <a:t>フラットサポートとは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8229600" cy="38100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71600" y="1463040"/>
            <a:ext cx="6400800" cy="1097280"/>
          </a:xfrm>
          <a:prstGeom prst="roundRect">
            <a:avLst/>
          </a:prstGeom>
          <a:solidFill>
            <a:srgbClr val="FFF3E0"/>
          </a:solidFill>
          <a:ln>
            <a:solidFill>
              <a:srgbClr val="ED8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1645920"/>
            <a:ext cx="6035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A202C"/>
                </a:solidFill>
              </a:defRPr>
            </a:pPr>
            <a:r>
              <a:t>業界初のサブスクリプション型</a:t>
            </a:r>
          </a:p>
          <a:p>
            <a:pPr algn="ctr">
              <a:defRPr sz="2600" b="1">
                <a:solidFill>
                  <a:srgbClr val="ED8936"/>
                </a:solidFill>
              </a:defRPr>
            </a:pPr>
            <a:r>
              <a:t>航空券手配サービス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4A5568"/>
                </a:solidFill>
              </a:defRPr>
            </a:pPr>
            <a:r>
              <a:t>エージェントのようにパッケージを売りつけません。</a:t>
            </a:r>
            <a:br/>
            <a:r>
              <a:t>シンプルに「航空券を最安値で取る」ことだけに集中します。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365D"/>
                </a:solidFill>
              </a:defRPr>
            </a:pPr>
            <a: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34747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A5568"/>
                </a:solidFill>
              </a:defRPr>
            </a:pPr>
            <a:r>
              <a:t>LINEで「○月に○○に行きたい」と送る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365D"/>
                </a:solidFill>
              </a:defRPr>
            </a:pPr>
            <a:r>
              <a:t>STEP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9319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A5568"/>
                </a:solidFill>
              </a:defRPr>
            </a:pPr>
            <a:r>
              <a:t>私たちが最安値のルートを探す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3891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365D"/>
                </a:solidFill>
              </a:defRPr>
            </a:pPr>
            <a:r>
              <a:t>STEP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43891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A5568"/>
                </a:solidFill>
              </a:defRPr>
            </a:pPr>
            <a:r>
              <a:t>複数の選択肢をご提案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8463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365D"/>
                </a:solidFill>
              </a:defRPr>
            </a:pPr>
            <a:r>
              <a:t>STEP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A5568"/>
                </a:solidFill>
              </a:defRPr>
            </a:pPr>
            <a:r>
              <a:t>お好みのプランで手配完了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5394960"/>
            <a:ext cx="6400800" cy="640080"/>
          </a:xfrm>
          <a:prstGeom prst="round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54480" y="5532120"/>
            <a:ext cx="6035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A365D"/>
                </a:solidFill>
              </a:defRPr>
            </a:pPr>
            <a:r>
              <a:t>LINEで相談するだけ。あとは全部おまかせ。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18096"/>
                </a:solidFill>
              </a:rPr>
              <a:t>株式会社UNISIA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18096"/>
                </a:solidFill>
              </a:defRPr>
            </a:pPr>
            <a: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D8936"/>
                </a:solidFill>
              </a:defRPr>
            </a:pPr>
            <a:r>
              <a:t>Section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65D"/>
                </a:solidFill>
              </a:defRPr>
            </a:pPr>
            <a:r>
              <a:t>かんたん操作ガイド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8229600" cy="38100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4A5568"/>
                </a:solidFill>
              </a:defRPr>
            </a:pPr>
            <a:r>
              <a:t>LINEのリッチメニューから「格安航空券サポート」をタップするだけ。</a:t>
            </a:r>
            <a:br/>
            <a:r>
              <a:t>その日の最安値を、リアルタイムでご提案します。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1371600" cy="320040"/>
          </a:xfrm>
          <a:prstGeom prst="round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STEP 1</a:t>
            </a:r>
          </a:p>
        </p:txBody>
      </p:sp>
      <p:pic>
        <p:nvPicPr>
          <p:cNvPr id="7" name="Picture 6" descr="step2-rich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423160"/>
            <a:ext cx="1053703" cy="2286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484632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A365D"/>
                </a:solidFill>
              </a:defRPr>
            </a:pPr>
            <a:r>
              <a:t>リッチメニューをタップ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1206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18096"/>
                </a:solidFill>
              </a:defRPr>
            </a:pPr>
            <a:r>
              <a:t>「格安航空券サポート」を選択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40" y="2011680"/>
            <a:ext cx="1371600" cy="320040"/>
          </a:xfrm>
          <a:prstGeom prst="round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STEP 2</a:t>
            </a:r>
          </a:p>
        </p:txBody>
      </p:sp>
      <p:pic>
        <p:nvPicPr>
          <p:cNvPr id="11" name="Picture 10" descr="step1-templ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2423160"/>
            <a:ext cx="1053703" cy="2286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560320" y="484632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A365D"/>
                </a:solidFill>
              </a:defRPr>
            </a:pPr>
            <a:r>
              <a:t>テンプレートに入力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51206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18096"/>
                </a:solidFill>
              </a:defRPr>
            </a:pPr>
            <a:r>
              <a:t>行きたい地域・時期・人数など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2011680"/>
            <a:ext cx="1371600" cy="320040"/>
          </a:xfrm>
          <a:prstGeom prst="round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STEP 3</a:t>
            </a:r>
          </a:p>
        </p:txBody>
      </p:sp>
      <p:pic>
        <p:nvPicPr>
          <p:cNvPr id="15" name="Picture 14" descr="step3-f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2423160"/>
            <a:ext cx="982265" cy="2286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754880" y="484632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A365D"/>
                </a:solidFill>
              </a:defRPr>
            </a:pPr>
            <a:r>
              <a:t>最安値フライトを表示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51206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18096"/>
                </a:solidFill>
              </a:defRPr>
            </a:pPr>
            <a:r>
              <a:t>リアルタイムの格安航空券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23759" y="2011680"/>
            <a:ext cx="1371600" cy="320040"/>
          </a:xfrm>
          <a:prstGeom prst="round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STEP 4</a:t>
            </a:r>
          </a:p>
        </p:txBody>
      </p:sp>
      <p:pic>
        <p:nvPicPr>
          <p:cNvPr id="19" name="Picture 18" descr="step4-hote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39" y="2423160"/>
            <a:ext cx="658564" cy="22860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949439" y="484632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A365D"/>
                </a:solidFill>
              </a:defRPr>
            </a:pPr>
            <a:r>
              <a:t>ホテルも検索可能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39" y="51206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18096"/>
                </a:solidFill>
              </a:defRPr>
            </a:pPr>
            <a:r>
              <a:t>オプションで条件指定OK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394960"/>
            <a:ext cx="8229600" cy="731520"/>
          </a:xfrm>
          <a:prstGeom prst="round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48640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「格安サイトで最安値のつもり」が実は最安値じゃなかった…</a:t>
            </a:r>
          </a:p>
          <a:p>
            <a:pPr algn="ctr">
              <a:defRPr sz="1200">
                <a:solidFill>
                  <a:srgbClr val="DCDCFF"/>
                </a:solidFill>
              </a:defRPr>
            </a:pPr>
            <a:r>
              <a:t>フラットサポートなら、その場のリアルタイムレートで本当の最安値をご提案します。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18096"/>
                </a:solidFill>
              </a:rPr>
              <a:t>株式会社UNISIA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18096"/>
                </a:solidFill>
              </a:defRPr>
            </a:pPr>
            <a: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D8936"/>
                </a:solidFill>
              </a:defRPr>
            </a:pPr>
            <a:r>
              <a:t>Section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65D"/>
                </a:solidFill>
              </a:defRPr>
            </a:pPr>
            <a:r>
              <a:t>選ばれる3つの理由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8229600" cy="38100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265176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F7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40280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ED8936"/>
                </a:solidFill>
              </a:defRPr>
            </a:pPr>
            <a:r>
              <a:t>POINT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1460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A365D"/>
                </a:solidFill>
              </a:defRPr>
            </a:pPr>
            <a:r>
              <a:t>最大34万円安くなる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7180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718096"/>
                </a:solidFill>
              </a:defRPr>
            </a:pPr>
            <a:r>
              <a:t>大手エージェントより圧倒的に安く航空券を手配。</a:t>
            </a:r>
            <a:br/>
            <a:r>
              <a:t>世界一周16万円の実績あり。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463040"/>
            <a:ext cx="265176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F7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164592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👨‍👩‍👧‍👦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240280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ED8936"/>
                </a:solidFill>
              </a:defRPr>
            </a:pPr>
            <a:r>
              <a:t>POINT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51460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A365D"/>
                </a:solidFill>
              </a:defRPr>
            </a:pPr>
            <a:r>
              <a:t>家族全員分サポート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97180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718096"/>
                </a:solidFill>
              </a:defRPr>
            </a:pPr>
            <a:r>
              <a:t>月額8,800円で、ご家族全員の航空券を手配。</a:t>
            </a:r>
            <a:br/>
            <a:r>
              <a:t>追加料金は一切かかりません。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463040"/>
            <a:ext cx="265176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F7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164592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240280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ED8936"/>
                </a:solidFill>
              </a:defRPr>
            </a:pPr>
            <a:r>
              <a:t>POINT 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51460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A365D"/>
                </a:solidFill>
              </a:defRPr>
            </a:pPr>
            <a:r>
              <a:t>LINEでいつでも相談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97180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718096"/>
                </a:solidFill>
              </a:defRPr>
            </a:pPr>
            <a:r>
              <a:t>「この時期はいくら？」「どのルートが安い？」</a:t>
            </a:r>
            <a:br/>
            <a:r>
              <a:t>気軽にLINEで相談できます。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71600" y="4937760"/>
            <a:ext cx="6400800" cy="914400"/>
          </a:xfrm>
          <a:prstGeom prst="roundRect">
            <a:avLst/>
          </a:prstGeom>
          <a:solidFill>
            <a:srgbClr val="FFF3E0"/>
          </a:solidFill>
          <a:ln>
            <a:solidFill>
              <a:srgbClr val="ED8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54480" y="5074920"/>
            <a:ext cx="6035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A202C"/>
                </a:solidFill>
              </a:defRPr>
            </a:pPr>
            <a:r>
              <a:t>さらに、初月500円でお試しいただけます。</a:t>
            </a:r>
          </a:p>
          <a:p>
            <a:pPr algn="ctr">
              <a:defRPr sz="1200">
                <a:solidFill>
                  <a:srgbClr val="718096"/>
                </a:solidFill>
              </a:defRPr>
            </a:pPr>
            <a:r>
              <a:t>合わなければ即解約OK。解約手数料なし。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18096"/>
                </a:solidFill>
              </a:rPr>
              <a:t>株式会社UNISIA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18096"/>
                </a:solidFill>
              </a:defRPr>
            </a:pPr>
            <a: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D8936"/>
                </a:solidFill>
              </a:defRPr>
            </a:pPr>
            <a:r>
              <a:t>Section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65D"/>
                </a:solidFill>
              </a:defRPr>
            </a:pPr>
            <a:r>
              <a:t>実際にお得になった事例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8229600" cy="38100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265176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F7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CASE 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1554480"/>
            <a:ext cx="1188720" cy="27432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CASE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A202C"/>
                </a:solidFill>
              </a:defRPr>
            </a:pPr>
            <a:r>
              <a:t>🌍 世界一周航空券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18096"/>
                </a:solidFill>
              </a:defRPr>
            </a:pPr>
            <a:r>
              <a:t>大手エージェント</a:t>
            </a:r>
          </a:p>
          <a:p>
            <a:pPr algn="ctr">
              <a:defRPr sz="1400">
                <a:solidFill>
                  <a:srgbClr val="718096"/>
                </a:solidFill>
              </a:defRPr>
            </a:pPr>
            <a:r>
              <a:t>50万円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80360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ED8936"/>
                </a:solidFill>
              </a:defRPr>
            </a:pPr>
            <a:r>
              <a:t>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0896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ED8936"/>
                </a:solidFill>
              </a:defRPr>
            </a:pPr>
            <a:r>
              <a:t>フラットサポート</a:t>
            </a:r>
          </a:p>
          <a:p>
            <a:pPr algn="ctr">
              <a:defRPr sz="1800" b="1">
                <a:solidFill>
                  <a:srgbClr val="1A365D"/>
                </a:solidFill>
              </a:defRPr>
            </a:pPr>
            <a:r>
              <a:t>16万円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657600"/>
            <a:ext cx="1920240" cy="320040"/>
          </a:xfrm>
          <a:prstGeom prst="round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34万円お得！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1463040"/>
            <a:ext cx="265176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F7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1600200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CASE 02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23360" y="1554480"/>
            <a:ext cx="1188720" cy="27432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CASE 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192024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A202C"/>
                </a:solidFill>
              </a:defRPr>
            </a:pPr>
            <a:r>
              <a:t>🇬🇧 イギリス往復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37744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18096"/>
                </a:solidFill>
              </a:defRPr>
            </a:pPr>
            <a:r>
              <a:t>大手エージェント</a:t>
            </a:r>
          </a:p>
          <a:p>
            <a:pPr algn="ctr">
              <a:defRPr sz="1400">
                <a:solidFill>
                  <a:srgbClr val="718096"/>
                </a:solidFill>
              </a:defRPr>
            </a:pPr>
            <a:r>
              <a:t>33万円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2880360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ED8936"/>
                </a:solidFill>
              </a:defRPr>
            </a:pPr>
            <a:r>
              <a:t>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310896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ED8936"/>
                </a:solidFill>
              </a:defRPr>
            </a:pPr>
            <a:r>
              <a:t>フラットサポート</a:t>
            </a:r>
          </a:p>
          <a:p>
            <a:pPr algn="ctr">
              <a:defRPr sz="1800" b="1">
                <a:solidFill>
                  <a:srgbClr val="1A365D"/>
                </a:solidFill>
              </a:defRPr>
            </a:pPr>
            <a:r>
              <a:t>11万円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0" y="3657600"/>
            <a:ext cx="1920240" cy="320040"/>
          </a:xfrm>
          <a:prstGeom prst="round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22万円お得！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1463040"/>
            <a:ext cx="265176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F7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1600200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CASE 03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1554480"/>
            <a:ext cx="1188720" cy="27432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CASE 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192024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A202C"/>
                </a:solidFill>
              </a:defRPr>
            </a:pPr>
            <a:r>
              <a:t>🇦🇺 オーストラリア往復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237744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18096"/>
                </a:solidFill>
              </a:defRPr>
            </a:pPr>
            <a:r>
              <a:t>大手エージェント</a:t>
            </a:r>
          </a:p>
          <a:p>
            <a:pPr algn="ctr">
              <a:defRPr sz="1400">
                <a:solidFill>
                  <a:srgbClr val="718096"/>
                </a:solidFill>
              </a:defRPr>
            </a:pPr>
            <a:r>
              <a:t>18万円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2880360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ED8936"/>
                </a:solidFill>
              </a:defRPr>
            </a:pPr>
            <a:r>
              <a:t>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310896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ED8936"/>
                </a:solidFill>
              </a:defRPr>
            </a:pPr>
            <a:r>
              <a:t>フラットサポート</a:t>
            </a:r>
          </a:p>
          <a:p>
            <a:pPr algn="ctr">
              <a:defRPr sz="1800" b="1">
                <a:solidFill>
                  <a:srgbClr val="1A365D"/>
                </a:solidFill>
              </a:defRPr>
            </a:pPr>
            <a:r>
              <a:t>12万円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92240" y="3657600"/>
            <a:ext cx="1920240" cy="320040"/>
          </a:xfrm>
          <a:prstGeom prst="round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6万円お得！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297680"/>
            <a:ext cx="8229600" cy="1645920"/>
          </a:xfrm>
          <a:prstGeom prst="round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3484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365D"/>
                </a:solidFill>
              </a:defRPr>
            </a:pPr>
            <a:r>
              <a:t>6ヶ月留学の場合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84632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1A202C"/>
                </a:solidFill>
              </a:defRPr>
            </a:pPr>
            <a:r>
              <a:t>大手留学エージェント: 約190万円〜　→　UNISIA: 65万円〜</a:t>
            </a:r>
          </a:p>
          <a:p>
            <a:pPr algn="ctr">
              <a:defRPr sz="2000" b="1">
                <a:solidFill>
                  <a:srgbClr val="ED8936"/>
                </a:solidFill>
              </a:defRPr>
            </a:pPr>
            <a:r>
              <a:t>約125万円お得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18096"/>
                </a:solidFill>
              </a:rPr>
              <a:t>株式会社UNISIA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18096"/>
                </a:solidFill>
              </a:defRPr>
            </a:pPr>
            <a: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D8936"/>
                </a:solidFill>
              </a:defRPr>
            </a:pPr>
            <a:r>
              <a:t>Section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65D"/>
                </a:solidFill>
              </a:defRPr>
            </a:pPr>
            <a:r>
              <a:t>料金プラン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8229600" cy="38100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029200" cy="4389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ED8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103120" y="1325880"/>
            <a:ext cx="1737360" cy="320040"/>
          </a:xfrm>
          <a:prstGeom prst="round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人気No.1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A365D"/>
                </a:solidFill>
              </a:defRPr>
            </a:pPr>
            <a:r>
              <a:t>フラットサポート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48840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718096"/>
                </a:solidFill>
              </a:defRPr>
            </a:pPr>
            <a:r>
              <a:t>航空券手配 + フルサポート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60320"/>
            <a:ext cx="4663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718096"/>
                </a:solidFill>
              </a:defRPr>
            </a:pPr>
            <a:r>
              <a:t>初月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43200"/>
            <a:ext cx="4663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ED8936"/>
                </a:solidFill>
              </a:rPr>
              <a:t>500</a:t>
            </a:r>
            <a:r>
              <a:rPr sz="1800">
                <a:solidFill>
                  <a:srgbClr val="4A5568"/>
                </a:solidFill>
              </a:rPr>
              <a:t>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383280"/>
            <a:ext cx="4663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718096"/>
                </a:solidFill>
              </a:defRPr>
            </a:pPr>
            <a:r>
              <a:t>翌月以降 8,800円/月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49039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A5568"/>
                </a:solidFill>
              </a:defRPr>
            </a:pPr>
            <a:r>
              <a:t>✓ 航空券の最安値検索＆手配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041647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A5568"/>
                </a:solidFill>
              </a:defRPr>
            </a:pPr>
            <a:r>
              <a:t>✓ 家族全員分サポート（追加料金なし）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334255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A5568"/>
                </a:solidFill>
              </a:defRPr>
            </a:pPr>
            <a:r>
              <a:t>✓ 24時間LINEサポート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626863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A5568"/>
                </a:solidFill>
              </a:defRPr>
            </a:pPr>
            <a:r>
              <a:t>✓ 現地トラブル対応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919471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A5568"/>
                </a:solidFill>
              </a:defRPr>
            </a:pPr>
            <a:r>
              <a:t>✓ ビザ申請サポート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212079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A5568"/>
                </a:solidFill>
              </a:defRPr>
            </a:pPr>
            <a:r>
              <a:t>✓ 海外保険のご案内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0" y="1463040"/>
            <a:ext cx="30175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F7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0" y="169164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A365D"/>
                </a:solidFill>
              </a:defRPr>
            </a:pPr>
            <a:r>
              <a:t>プレミアム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2057400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18096"/>
                </a:solidFill>
              </a:defRPr>
            </a:pPr>
            <a:r>
              <a:t>留学・ワーホリをフルサポート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246888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1A365D"/>
                </a:solidFill>
              </a:rPr>
              <a:t>19,800</a:t>
            </a:r>
            <a:r>
              <a:rPr sz="1200">
                <a:solidFill>
                  <a:srgbClr val="4A5568"/>
                </a:solidFill>
              </a:rPr>
              <a:t>円/月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3108960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A5568"/>
                </a:solidFill>
              </a:defRPr>
            </a:pPr>
            <a:r>
              <a:t>✓ フラットサポートの内容すべて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3401568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A5568"/>
                </a:solidFill>
              </a:defRPr>
            </a:pPr>
            <a:r>
              <a:t>✓ ビザ申請代行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3694176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A5568"/>
                </a:solidFill>
              </a:defRPr>
            </a:pPr>
            <a:r>
              <a:t>✓ オンライン英会話（月4回）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3986784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A5568"/>
                </a:solidFill>
              </a:defRPr>
            </a:pPr>
            <a:r>
              <a:t>✓ 帰国後の就職サポート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18096"/>
                </a:solidFill>
              </a:rPr>
              <a:t>株式会社UNISIA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18096"/>
                </a:solidFill>
              </a:defRPr>
            </a:pPr>
            <a: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D8936"/>
                </a:solidFill>
              </a:defRPr>
            </a:pPr>
            <a:r>
              <a:t>Section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65D"/>
                </a:solidFill>
              </a:defRPr>
            </a:pPr>
            <a:r>
              <a:t>留学エージェントとの違い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8229600" cy="38100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2011680" cy="365760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比較項目</a:t>
            </a:r>
          </a:p>
        </p:txBody>
      </p:sp>
      <p:sp>
        <p:nvSpPr>
          <p:cNvPr id="6" name="Rectangle 5"/>
          <p:cNvSpPr/>
          <p:nvPr/>
        </p:nvSpPr>
        <p:spPr>
          <a:xfrm>
            <a:off x="2468880" y="1554480"/>
            <a:ext cx="2926080" cy="365760"/>
          </a:xfrm>
          <a:prstGeom prst="rect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留学エージェント</a:t>
            </a:r>
          </a:p>
        </p:txBody>
      </p:sp>
      <p:sp>
        <p:nvSpPr>
          <p:cNvPr id="7" name="Rectangle 6"/>
          <p:cNvSpPr/>
          <p:nvPr/>
        </p:nvSpPr>
        <p:spPr>
          <a:xfrm>
            <a:off x="5394960" y="1554480"/>
            <a:ext cx="3291840" cy="365760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フラットサポート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65960"/>
            <a:ext cx="20116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202C"/>
                </a:solidFill>
              </a:defRPr>
            </a:pPr>
            <a:r>
              <a:t>対象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0" y="1965960"/>
            <a:ext cx="29260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0">
                <a:solidFill>
                  <a:srgbClr val="718096"/>
                </a:solidFill>
              </a:defRPr>
            </a:pPr>
            <a:r>
              <a:t>留学する人のみ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94960" y="1965960"/>
            <a:ext cx="32918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48BB78"/>
                </a:solidFill>
              </a:defRPr>
            </a:pPr>
            <a:r>
              <a:t>✓ 旅行でも留学でもOK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77440"/>
            <a:ext cx="2011680" cy="384048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202C"/>
                </a:solidFill>
              </a:defRPr>
            </a:pPr>
            <a:r>
              <a:t>料金体系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68880" y="2377440"/>
            <a:ext cx="2926080" cy="384048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0">
                <a:solidFill>
                  <a:srgbClr val="718096"/>
                </a:solidFill>
              </a:defRPr>
            </a:pPr>
            <a:r>
              <a:t>パッケージ（高額）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94960" y="2377440"/>
            <a:ext cx="3291840" cy="384048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48BB78"/>
                </a:solidFill>
              </a:defRPr>
            </a:pPr>
            <a:r>
              <a:t>✓ シンプルな月額制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788920"/>
            <a:ext cx="20116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202C"/>
                </a:solidFill>
              </a:defRPr>
            </a:pPr>
            <a:r>
              <a:t>航空券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68880" y="2788920"/>
            <a:ext cx="29260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0">
                <a:solidFill>
                  <a:srgbClr val="718096"/>
                </a:solidFill>
              </a:defRPr>
            </a:pPr>
            <a:r>
              <a:t>割高なことが多い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94960" y="2788920"/>
            <a:ext cx="32918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48BB78"/>
                </a:solidFill>
              </a:defRPr>
            </a:pPr>
            <a:r>
              <a:t>✓ 最安値を徹底追求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200400"/>
            <a:ext cx="2011680" cy="384048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202C"/>
                </a:solidFill>
              </a:defRPr>
            </a:pPr>
            <a:r>
              <a:t>家族利用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68880" y="3200400"/>
            <a:ext cx="2926080" cy="384048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0">
                <a:solidFill>
                  <a:srgbClr val="718096"/>
                </a:solidFill>
              </a:defRPr>
            </a:pPr>
            <a:r>
              <a:t>追加料金あり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94960" y="3200400"/>
            <a:ext cx="3291840" cy="384048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48BB78"/>
                </a:solidFill>
              </a:defRPr>
            </a:pPr>
            <a:r>
              <a:t>✓ 追加料金なし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611880"/>
            <a:ext cx="20116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202C"/>
                </a:solidFill>
              </a:defRPr>
            </a:pPr>
            <a:r>
              <a:t>相談方法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68880" y="3611880"/>
            <a:ext cx="29260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0">
                <a:solidFill>
                  <a:srgbClr val="718096"/>
                </a:solidFill>
              </a:defRPr>
            </a:pPr>
            <a:r>
              <a:t>予約制の面談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94960" y="3611880"/>
            <a:ext cx="32918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48BB78"/>
                </a:solidFill>
              </a:defRPr>
            </a:pPr>
            <a:r>
              <a:t>✓ LINEでいつでも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023360"/>
            <a:ext cx="2011680" cy="384048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202C"/>
                </a:solidFill>
              </a:defRPr>
            </a:pPr>
            <a:r>
              <a:t>解約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68880" y="4023360"/>
            <a:ext cx="2926080" cy="384048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0">
                <a:solidFill>
                  <a:srgbClr val="718096"/>
                </a:solidFill>
              </a:defRPr>
            </a:pPr>
            <a:r>
              <a:t>違約金あり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94960" y="4023360"/>
            <a:ext cx="3291840" cy="384048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48BB78"/>
                </a:solidFill>
              </a:defRPr>
            </a:pPr>
            <a:r>
              <a:t>✓ いつでも無料で解約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71600" y="4572000"/>
            <a:ext cx="6400800" cy="822960"/>
          </a:xfrm>
          <a:prstGeom prst="roundRect">
            <a:avLst/>
          </a:prstGeom>
          <a:solidFill>
            <a:srgbClr val="FFF3E0"/>
          </a:solidFill>
          <a:ln>
            <a:solidFill>
              <a:srgbClr val="ED8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54480" y="4709160"/>
            <a:ext cx="6035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1A202C"/>
                </a:solidFill>
              </a:defRPr>
            </a:pPr>
            <a:r>
              <a:t>「航空券を安く取りたい」だけなら、</a:t>
            </a:r>
          </a:p>
          <a:p>
            <a:pPr algn="ctr">
              <a:defRPr sz="1600" b="1">
                <a:solidFill>
                  <a:srgbClr val="1A202C"/>
                </a:solidFill>
              </a:defRPr>
            </a:pPr>
            <a:r>
              <a:t>フラットサポートで十分です。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18096"/>
                </a:solidFill>
              </a:rPr>
              <a:t>株式会社UNISIA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18096"/>
                </a:solidFill>
              </a:defRPr>
            </a:pPr>
            <a: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D8936"/>
                </a:solidFill>
              </a:defRPr>
            </a:pPr>
            <a:r>
              <a:t>Section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65D"/>
                </a:solidFill>
              </a:defRPr>
            </a:pPr>
            <a:r>
              <a:t>ご利用者様の声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8229600" cy="38100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4023360" cy="210312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94360" y="1600200"/>
            <a:ext cx="457200" cy="457200"/>
          </a:xfrm>
          <a:prstGeom prst="ellipse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60020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Y.Tさん（20代・男性）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82880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4B4B4"/>
                </a:solidFill>
              </a:defRPr>
            </a:pPr>
            <a:r>
              <a:t>世界一周で利用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48840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6AD55"/>
                </a:solidFill>
              </a:defRPr>
            </a:pPr>
            <a:r>
              <a:t>★★★★★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23160"/>
            <a:ext cx="37490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世界一周の航空券が合計16万円で取れました！大手だと50万円近くかかると言われていたので、正直信じられなかったです。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1463040"/>
            <a:ext cx="4023360" cy="210312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892040" y="1600200"/>
            <a:ext cx="457200" cy="457200"/>
          </a:xfrm>
          <a:prstGeom prst="ellipse">
            <a:avLst/>
          </a:prstGeom>
          <a:solidFill>
            <a:srgbClr val="ED6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160020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A5568"/>
                </a:solidFill>
              </a:defRPr>
            </a:pPr>
            <a:r>
              <a:t>M.Sさん（20代・女性）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0680" y="182880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18096"/>
                </a:solidFill>
              </a:defRPr>
            </a:pPr>
            <a:r>
              <a:t>ワーホリ準備で利用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2148840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D8936"/>
                </a:solidFill>
              </a:defRPr>
            </a:pPr>
            <a:r>
              <a:t>★★★★★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2423160"/>
            <a:ext cx="37490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A5568"/>
                </a:solidFill>
              </a:defRPr>
            </a:pPr>
            <a:r>
              <a:t>オーストラリアへのワーホリ。航空券だけで6万円浮いて、その分を現地での生活費に回せました。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749040"/>
            <a:ext cx="4023360" cy="210312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94360" y="3886200"/>
            <a:ext cx="457200" cy="457200"/>
          </a:xfrm>
          <a:prstGeom prst="ellipse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88620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A5568"/>
                </a:solidFill>
              </a:defRPr>
            </a:pPr>
            <a:r>
              <a:t>K.Nさん（30代・男性）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11480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18096"/>
                </a:solidFill>
              </a:defRPr>
            </a:pPr>
            <a:r>
              <a:t>家族旅行で利用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434840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D8936"/>
                </a:solidFill>
              </a:defRPr>
            </a:pPr>
            <a:r>
              <a:t>★★★★★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709160"/>
            <a:ext cx="37490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A5568"/>
                </a:solidFill>
              </a:defRPr>
            </a:pPr>
            <a:r>
              <a:t>家族4人でハワイに行きました。自分で調べた価格より8万円も安く取れました。LINEで相談するだけで全部やってくれるのが助かりました！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0" y="3749040"/>
            <a:ext cx="4023360" cy="210312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892040" y="3886200"/>
            <a:ext cx="457200" cy="457200"/>
          </a:xfrm>
          <a:prstGeom prst="ellipse">
            <a:avLst/>
          </a:prstGeom>
          <a:solidFill>
            <a:srgbClr val="ED6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40680" y="388620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A5568"/>
                </a:solidFill>
              </a:defRPr>
            </a:pPr>
            <a:r>
              <a:t>R.Kさん（20代・女性）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40680" y="411480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18096"/>
                </a:solidFill>
              </a:defRPr>
            </a:pPr>
            <a:r>
              <a:t>LINEサポートが決め手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2040" y="4434840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D8936"/>
                </a:solidFill>
              </a:defRPr>
            </a:pPr>
            <a:r>
              <a:t>★★★★★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92040" y="4709160"/>
            <a:ext cx="37490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A5568"/>
                </a:solidFill>
              </a:defRPr>
            </a:pPr>
            <a:r>
              <a:t>何よりLINEでのサポートが手厚いのが良かったです！質問にもすぐ返信がきて、初めての海外でも安心して準備できました。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18096"/>
                </a:solidFill>
              </a:rPr>
              <a:t>株式会社UNISIA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18096"/>
                </a:solidFill>
              </a:defRPr>
            </a:pPr>
            <a: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D8936"/>
                </a:solidFill>
              </a:defRPr>
            </a:pPr>
            <a:r>
              <a:t>Section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65D"/>
                </a:solidFill>
              </a:defRPr>
            </a:pPr>
            <a:r>
              <a:t>代表紹介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8229600" cy="38100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1828800"/>
            <a:ext cx="2011680" cy="2011680"/>
          </a:xfrm>
          <a:prstGeom prst="ellipse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PHOTO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4023360"/>
            <a:ext cx="1463040" cy="365760"/>
          </a:xfrm>
          <a:prstGeom prst="round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🌍 17カ国渡航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64592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202C"/>
                </a:solidFill>
              </a:defRPr>
            </a:pPr>
            <a:r>
              <a:t>トライ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10312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18096"/>
                </a:solidFill>
              </a:defRPr>
            </a:pPr>
            <a:r>
              <a:t>株式会社UNISIA 代表取締役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5603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200">
                <a:solidFill>
                  <a:srgbClr val="4A5568"/>
                </a:solidFill>
              </a:defRPr>
            </a:pPr>
            <a:r>
              <a:t>貯金5万円・片道切符で海外に飛び出し、17カ国以上を回りました。</a:t>
            </a:r>
            <a:br/>
            <a:br/>
            <a:r>
              <a:t>一方で、留学エージェントに200万円損した経験も。高額なパッケージを売りつけられ、後から「もっと安くできた」と知りました。</a:t>
            </a:r>
            <a:br/>
            <a:br/>
            <a:r>
              <a:t>あの時の自分と同じ思いをしてほしくない。だから、フラットサポートを作りました。</a:t>
            </a:r>
            <a:br/>
            <a:br/>
            <a:r>
              <a:t>「航空券の取り方を変えるだけで、人生の選択肢が広がる。」</a:t>
            </a:r>
            <a:br/>
            <a:r>
              <a:t>あなたの海外挑戦を、全力でサポートします。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18096"/>
                </a:solidFill>
              </a:rPr>
              <a:t>株式会社UNISIA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18096"/>
                </a:solidFill>
              </a:defRPr>
            </a:pPr>
            <a: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D8936"/>
                </a:solidFill>
              </a:defRPr>
            </a:pPr>
            <a:r>
              <a:t>Section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65D"/>
                </a:solidFill>
              </a:defRPr>
            </a:pPr>
            <a:r>
              <a:t>よくある質問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8229600" cy="38100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8229600" cy="114300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572768"/>
            <a:ext cx="320040" cy="320040"/>
          </a:xfrm>
          <a:prstGeom prst="round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572768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202C"/>
                </a:solidFill>
              </a:defRPr>
            </a:pPr>
            <a:r>
              <a:t>本当に安くなりますか？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965960"/>
            <a:ext cx="320040" cy="320040"/>
          </a:xfrm>
          <a:prstGeom prst="round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A5568"/>
                </a:solidFill>
              </a:defRPr>
            </a:pPr>
            <a:r>
              <a:t>はい。大手エージェントと比較して、最大34万円お得になった実績があります。航空券は時期やルートによって価格が変動しますが、常に最安値を徹底的にお探しします。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97480"/>
            <a:ext cx="8229600" cy="114300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94360" y="2807208"/>
            <a:ext cx="320040" cy="320040"/>
          </a:xfrm>
          <a:prstGeom prst="round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807208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202C"/>
                </a:solidFill>
              </a:defRPr>
            </a:pPr>
            <a:r>
              <a:t>家族は何人まで使えますか？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200400"/>
            <a:ext cx="320040" cy="320040"/>
          </a:xfrm>
          <a:prstGeom prst="round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200400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A5568"/>
                </a:solidFill>
              </a:defRPr>
            </a:pPr>
            <a:r>
              <a:t>1契約につき最大9名様までご利用いただけます。ご家族全員分を追加料金なしで手配しますので、家族旅行にもおすすめです。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931920"/>
            <a:ext cx="8229600" cy="114300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94360" y="4041648"/>
            <a:ext cx="320040" cy="320040"/>
          </a:xfrm>
          <a:prstGeom prst="round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041648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202C"/>
                </a:solidFill>
              </a:defRPr>
            </a:pPr>
            <a:r>
              <a:t>解約はいつでもできますか？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4434840"/>
            <a:ext cx="320040" cy="320040"/>
          </a:xfrm>
          <a:prstGeom prst="round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434840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A5568"/>
                </a:solidFill>
              </a:defRPr>
            </a:pPr>
            <a:r>
              <a:t>はい。いつでも解約可能です。解約手数料もかかりません。合わなければ、1ヶ月で辞めていただいて構いません。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166360"/>
            <a:ext cx="8229600" cy="114300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94360" y="5276088"/>
            <a:ext cx="320040" cy="320040"/>
          </a:xfrm>
          <a:prstGeom prst="round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Q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276088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202C"/>
                </a:solidFill>
              </a:defRPr>
            </a:pPr>
            <a:r>
              <a:t>航空券以外も相談できますか？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5669280"/>
            <a:ext cx="320040" cy="320040"/>
          </a:xfrm>
          <a:prstGeom prst="round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669280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A5568"/>
                </a:solidFill>
              </a:defRPr>
            </a:pPr>
            <a:r>
              <a:t>はい。ビザ申請や海外保険のご案内、渡航中の現地トラブル対応、海外の情勢・治安情報の配信など、LINEでいつでも何度でもご相談いただけます。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18096"/>
                </a:solidFill>
              </a:rPr>
              <a:t>株式会社UNISIA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18096"/>
                </a:solidFill>
              </a:defRPr>
            </a:pPr>
            <a: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D8936"/>
                </a:solidFill>
              </a:defRPr>
            </a:pPr>
            <a:r>
              <a:t>Section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65D"/>
                </a:solidFill>
              </a:defRPr>
            </a:pPr>
            <a:r>
              <a:t>提供サポート一覧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8229600" cy="38100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4023360" cy="77724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459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✈️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60020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365D"/>
                </a:solidFill>
              </a:defRPr>
            </a:pPr>
            <a:r>
              <a:t>航空券の手配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87452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18096"/>
                </a:solidFill>
              </a:defRPr>
            </a:pPr>
            <a:r>
              <a:t>最安値を徹底追求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463040"/>
            <a:ext cx="4023360" cy="77724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16459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9240" y="160020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365D"/>
                </a:solidFill>
              </a:defRPr>
            </a:pPr>
            <a:r>
              <a:t>空港送迎手配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187452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18096"/>
                </a:solidFill>
              </a:defRPr>
            </a:pPr>
            <a:r>
              <a:t>到着後も安心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331720"/>
            <a:ext cx="4023360" cy="77724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5146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46888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365D"/>
                </a:solidFill>
              </a:defRPr>
            </a:pPr>
            <a:r>
              <a:t>ビザ発行代行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74320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18096"/>
                </a:solidFill>
              </a:defRPr>
            </a:pPr>
            <a:r>
              <a:t>面倒な手続きを代行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0" y="2331720"/>
            <a:ext cx="4023360" cy="77724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92040" y="25146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🛡️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246888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365D"/>
                </a:solidFill>
              </a:defRPr>
            </a:pPr>
            <a:r>
              <a:t>海外保険案内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9240" y="274320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18096"/>
                </a:solidFill>
              </a:defRPr>
            </a:pPr>
            <a:r>
              <a:t>最適なプランをご提案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200400"/>
            <a:ext cx="4023360" cy="77724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3832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333756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365D"/>
                </a:solidFill>
              </a:defRPr>
            </a:pPr>
            <a:r>
              <a:t>24時間LINEサポート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361188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18096"/>
                </a:solidFill>
              </a:defRPr>
            </a:pPr>
            <a:r>
              <a:t>いつでも相談OK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54880" y="3200400"/>
            <a:ext cx="4023360" cy="77724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92040" y="33832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9240" y="333756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365D"/>
                </a:solidFill>
              </a:defRPr>
            </a:pPr>
            <a:r>
              <a:t>現地トラブル対応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49240" y="361188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18096"/>
                </a:solidFill>
              </a:defRPr>
            </a:pPr>
            <a:r>
              <a:t>渡航中も安心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069079"/>
            <a:ext cx="4023360" cy="77724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4251959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🗣️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4206239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365D"/>
                </a:solidFill>
              </a:defRPr>
            </a:pPr>
            <a:r>
              <a:t>現地日本語サポート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4480559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18096"/>
                </a:solidFill>
              </a:defRPr>
            </a:pPr>
            <a:r>
              <a:t>言葉の壁も安心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54880" y="4069079"/>
            <a:ext cx="4023360" cy="77724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92040" y="4251959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49240" y="4206239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365D"/>
                </a:solidFill>
              </a:defRPr>
            </a:pPr>
            <a:r>
              <a:t>オンライン英会話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49240" y="4480559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18096"/>
                </a:solidFill>
              </a:defRPr>
            </a:pPr>
            <a:r>
              <a:t>プレミアムプランのみ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937760"/>
            <a:ext cx="4023360" cy="77724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51206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" y="507492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365D"/>
                </a:solidFill>
              </a:defRPr>
            </a:pPr>
            <a:r>
              <a:t>帰国後就職サポート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534924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18096"/>
                </a:solidFill>
              </a:defRPr>
            </a:pPr>
            <a:r>
              <a:t>キャリアもサポート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754880" y="4937760"/>
            <a:ext cx="4023360" cy="777240"/>
          </a:xfrm>
          <a:prstGeom prst="round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92040" y="51206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49240" y="507492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365D"/>
                </a:solidFill>
              </a:defRPr>
            </a:pPr>
            <a:r>
              <a:t>海外現地撮影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49240" y="534924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18096"/>
                </a:solidFill>
              </a:defRPr>
            </a:pPr>
            <a:r>
              <a:t>思い出を形に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18096"/>
                </a:solidFill>
              </a:rPr>
              <a:t>株式会社UNISIA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18096"/>
                </a:solidFill>
              </a:defRPr>
            </a:pPr>
            <a: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D8936"/>
                </a:solidFill>
              </a:defRPr>
            </a:pPr>
            <a:r>
              <a:t>Section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65D"/>
                </a:solidFill>
              </a:defRPr>
            </a:pPr>
            <a:r>
              <a:t>まとめ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8229600" cy="38100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8229600" cy="365760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まずは初月500円でお試しください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8C8C8"/>
                </a:solidFill>
              </a:defRPr>
            </a:pPr>
            <a:r>
              <a:t>航空券1回の手配で、数万円〜数十万円の差が出ます。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69696"/>
                </a:solidFill>
              </a:defRPr>
            </a:pPr>
            <a:r>
              <a:t>初月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80360"/>
            <a:ext cx="7863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400" b="1">
                <a:solidFill>
                  <a:srgbClr val="F6AD55"/>
                </a:solidFill>
              </a:rPr>
              <a:t>500</a:t>
            </a:r>
            <a:r>
              <a:rPr sz="2200">
                <a:solidFill>
                  <a:srgbClr val="F6AD55"/>
                </a:solidFill>
              </a:rPr>
              <a:t>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　✓ 家族全員分OK　　✓ LINEでいつでも相談　　✓ いつでも解約可能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0624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69696"/>
                </a:solidFill>
              </a:defRPr>
            </a:pPr>
            <a:r>
              <a:t>※ 翌月以降 8,800円/月 ・ 解約手数料なし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5212080"/>
            <a:ext cx="6400800" cy="822960"/>
          </a:xfrm>
          <a:prstGeom prst="roundRect">
            <a:avLst/>
          </a:prstGeom>
          <a:solidFill>
            <a:srgbClr val="FFF3E0"/>
          </a:solidFill>
          <a:ln>
            <a:solidFill>
              <a:srgbClr val="ED8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5349240"/>
            <a:ext cx="6035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A202C"/>
                </a:solidFill>
              </a:defRPr>
            </a:pPr>
            <a:r>
              <a:t>リスクはゼロ。合わなければ、500円以上の損はしません。</a:t>
            </a:r>
          </a:p>
          <a:p>
            <a:pPr algn="ctr">
              <a:defRPr sz="1100">
                <a:solidFill>
                  <a:srgbClr val="4A5568"/>
                </a:solidFill>
              </a:defRPr>
            </a:pPr>
            <a:r>
              <a:t>でも、もし合えば、次の旅行から数万円〜数十万円浮くかもしれません。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18096"/>
                </a:solidFill>
              </a:rPr>
              <a:t>株式会社UNISIA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18096"/>
                </a:solidFill>
              </a:defRPr>
            </a:pPr>
            <a: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お問い合わせ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2926080"/>
            <a:ext cx="5486400" cy="2286000"/>
          </a:xfrm>
          <a:prstGeom prst="round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0" y="310896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696B4"/>
                </a:solidFill>
              </a:rPr>
              <a:t>会社名　　</a:t>
            </a:r>
            <a:r>
              <a:rPr sz="1100">
                <a:solidFill>
                  <a:srgbClr val="FFFFFF"/>
                </a:solidFill>
              </a:rPr>
              <a:t>株式会社UNISIA（ユニシア）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3493008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696B4"/>
                </a:solidFill>
              </a:rPr>
              <a:t>代表取締役　　</a:t>
            </a:r>
            <a:r>
              <a:rPr sz="1100">
                <a:solidFill>
                  <a:srgbClr val="FFFFFF"/>
                </a:solidFill>
              </a:rPr>
              <a:t>井上 智羅（いのうえ とらい）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3877056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696B4"/>
                </a:solidFill>
              </a:rPr>
              <a:t>所在地　　</a:t>
            </a:r>
            <a:r>
              <a:rPr sz="1100">
                <a:solidFill>
                  <a:srgbClr val="FFFFFF"/>
                </a:solidFill>
              </a:rPr>
              <a:t>福岡県福岡市博多区博多駅前1丁目23番2号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4261104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696B4"/>
                </a:solidFill>
              </a:rPr>
              <a:t>サービスURL　　</a:t>
            </a:r>
            <a:r>
              <a:rPr sz="1100">
                <a:solidFill>
                  <a:srgbClr val="FFFFFF"/>
                </a:solidFill>
              </a:rPr>
              <a:t>ltdunisia.memberpay.jp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4645152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696B4"/>
                </a:solidFill>
              </a:rPr>
              <a:t>公式LINE　　</a:t>
            </a:r>
            <a:r>
              <a:rPr sz="1100">
                <a:solidFill>
                  <a:srgbClr val="FFFFFF"/>
                </a:solidFill>
              </a:rPr>
              <a:t>@unisia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669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B4B4C8"/>
                </a:solidFill>
              </a:defRPr>
            </a:pPr>
            <a:r>
              <a:t>"すべての人に、気軽な海外挑戦を"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